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8" r:id="rId4"/>
    <p:sldId id="257" r:id="rId5"/>
    <p:sldId id="259" r:id="rId6"/>
    <p:sldId id="260" r:id="rId7"/>
    <p:sldId id="261" r:id="rId8"/>
    <p:sldId id="265" r:id="rId9"/>
    <p:sldId id="264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11"/>
    <p:restoredTop sz="96327"/>
  </p:normalViewPr>
  <p:slideViewPr>
    <p:cSldViewPr snapToGrid="0">
      <p:cViewPr varScale="1">
        <p:scale>
          <a:sx n="118" d="100"/>
          <a:sy n="118" d="100"/>
        </p:scale>
        <p:origin x="208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75C2-667E-2ECE-67A1-6286B9981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2938A-398A-17EA-8DB6-0C94CED0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CB5AF-0C96-ED2A-91BA-ADCD4534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8F872-935D-25E3-E272-B6CB7520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4266D-6B80-4F7A-973C-08478382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3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E0963-C763-E7D8-F6E1-A9D398DD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F0030-9A3A-5D49-A4F2-B66847715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76E36-399D-9154-61B0-BDDC6A4E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C5073-8FD0-4B8D-FF5E-0A708B60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3F474-2044-CBA2-9221-6AB33B90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8115-611F-FEB1-4A8E-2589C546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94B17-FF23-3E13-ADF6-9B9D560F5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94DFE-103F-8A9D-164C-B9508EC0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3C71-C278-8B64-D60E-4308FD52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12786-6DDE-9B13-C932-2E88D411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5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932F-8B37-049B-6A02-A6F648A4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66812-6BB4-190B-18B6-610051E49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13EFA-D2F9-9477-5E63-F3C5539F6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CCE80-5315-C92B-F7B9-42C29364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BE65B-4059-3BF1-97BE-2B9D3B770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46396-D264-AF47-CB80-E38204AE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1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C70A-E31A-BB77-C8F8-5832D89E6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28CA8-1E1C-8169-3801-F6C5841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EF247-E7D4-EC00-C8D0-59E44A166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708511-74FE-DB56-55F3-02B4AC5DD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69FCE1-11EC-4D98-5C74-704007D24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1818E-219D-1765-6144-F4441E58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C6EF9-D7CB-C481-8303-D7B81DFE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E74BC-F452-686F-B325-9E0E877E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3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81B0-7A90-4AEA-18CE-B681F037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04523-27DE-3222-044C-3B5DD9F3F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6E052-3ED0-D2FB-298E-3562017C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FF203-131C-7AA2-E49C-25906FB0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D0A8C-1775-54CF-62A7-E81244BD4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9E06-9838-FE4A-52DC-9B45C164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B0DB8-E46F-70E8-D0C1-C8BAACA3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1F7E-C12E-8A35-9409-DA9CC309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26C9-27C3-D8F5-7928-2383878E3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6DFD3-8DED-CA11-342E-9A5D99F5D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C66C8-7193-A541-012D-C4F19B4D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59BF9-0D47-C473-F8B0-6565FC217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61592-5E21-715C-8A65-CE5BC1CF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6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2CBF-5A05-F640-DBB6-54866C426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773F93-2B47-C189-13ED-982994A07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05819-9817-79DC-5458-238D5BD68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604B3-704C-DE1F-9853-01E9D838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60C2D-4225-75F5-9346-AC9266D1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83B90-EF68-0B41-9FA8-9C5105A0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1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9744-7E98-30C3-85EC-947F888C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5B8078-E89E-60A2-BE86-D818BCE51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B56B7-7A8B-5C72-EE3A-92A2B32D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6D6E4-8664-09A9-A307-F871961F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1068-C4A4-6272-B578-56E631CC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0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07DD1E-69B1-2212-3386-0EAF05D6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0B476-06D1-7E4E-1ADE-38D3C7295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DB1D2-9EC9-9500-B35F-E3E98ED7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3AFFC-8078-73A7-9CF1-D9F35B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92F1D-D2E9-8ED0-475A-24508E96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6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DA688-7041-4E43-A8F1-099C1170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26D56-777F-E422-E60B-3112334F0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A9BDB-71CA-697E-1CAA-7E0D28D82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D92B1-8B07-D84D-B36B-DC0B2B131A36}" type="datetimeFigureOut">
              <a:rPr lang="en-US" smtClean="0"/>
              <a:t>9/27/22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C8E1A-B6F4-1C95-DE2E-9EFE1BD52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3489E-6960-647A-25C0-63FBEC766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CE51-9B82-4B43-9674-0F3386B37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5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5DA0-8444-F926-5E8D-4CBDEB7EB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66805-9A9D-16C7-1382-0E58DC0E9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A4FA-1E00-C22E-0BB3-3C9C72BB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Deconvolution of </a:t>
            </a:r>
            <a:r>
              <a:rPr lang="en-US" dirty="0" err="1"/>
              <a:t>dna</a:t>
            </a:r>
            <a:r>
              <a:rPr lang="en-US" dirty="0"/>
              <a:t> mixture in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E6E41-1F6A-C664-398D-492A7989F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/>
              <a:t>Forensic </a:t>
            </a:r>
          </a:p>
          <a:p>
            <a:pPr lvl="1"/>
            <a:r>
              <a:rPr lang="en-US" sz="1700" dirty="0"/>
              <a:t>Minor and major contributor to the sample are known</a:t>
            </a:r>
          </a:p>
          <a:p>
            <a:pPr lvl="1"/>
            <a:r>
              <a:rPr lang="en-US" sz="1700" dirty="0"/>
              <a:t>Minor contributor is at higher level than the noise threshold</a:t>
            </a:r>
          </a:p>
          <a:p>
            <a:pPr lvl="1"/>
            <a:r>
              <a:rPr lang="en-US" sz="1700" dirty="0"/>
              <a:t>Mostly concerned with qualitative result</a:t>
            </a:r>
          </a:p>
          <a:p>
            <a:pPr lvl="1"/>
            <a:r>
              <a:rPr lang="en-US" sz="1700" dirty="0"/>
              <a:t>Concern: avoid false positive</a:t>
            </a:r>
          </a:p>
          <a:p>
            <a:r>
              <a:rPr lang="en-US" sz="1700" dirty="0"/>
              <a:t>Tumor purity</a:t>
            </a:r>
          </a:p>
          <a:p>
            <a:r>
              <a:rPr lang="en-US" sz="1700" dirty="0"/>
              <a:t>Complex method with many assumption</a:t>
            </a:r>
          </a:p>
          <a:p>
            <a:pPr lvl="1"/>
            <a:r>
              <a:rPr lang="en-US" sz="1700" dirty="0"/>
              <a:t>Main source of information: structural variance</a:t>
            </a:r>
          </a:p>
          <a:p>
            <a:r>
              <a:rPr lang="en-US" sz="1700" b="0" i="0" dirty="0">
                <a:solidFill>
                  <a:srgbClr val="000000"/>
                </a:solidFill>
                <a:effectLst/>
              </a:rPr>
              <a:t>Donor-</a:t>
            </a:r>
            <a:r>
              <a:rPr lang="en-US" sz="1700" b="0" i="0" dirty="0" err="1">
                <a:solidFill>
                  <a:srgbClr val="000000"/>
                </a:solidFill>
                <a:effectLst/>
              </a:rPr>
              <a:t>DerivedCell</a:t>
            </a:r>
            <a:r>
              <a:rPr lang="en-US" sz="1700" b="0" i="0" dirty="0">
                <a:solidFill>
                  <a:srgbClr val="000000"/>
                </a:solidFill>
                <a:effectLst/>
              </a:rPr>
              <a:t>-Free DNA in organ transplantation</a:t>
            </a:r>
          </a:p>
          <a:p>
            <a:pPr lvl="1"/>
            <a:r>
              <a:rPr lang="en-US" sz="1700" dirty="0">
                <a:solidFill>
                  <a:srgbClr val="000000"/>
                </a:solidFill>
              </a:rPr>
              <a:t>New</a:t>
            </a:r>
          </a:p>
          <a:p>
            <a:pPr lvl="1"/>
            <a:r>
              <a:rPr lang="en-US" sz="1700" dirty="0">
                <a:solidFill>
                  <a:srgbClr val="000000"/>
                </a:solidFill>
              </a:rPr>
              <a:t>High coverage sequencing</a:t>
            </a:r>
          </a:p>
          <a:p>
            <a:pPr lvl="1"/>
            <a:r>
              <a:rPr lang="en-US" sz="1700" b="0" i="0" dirty="0">
                <a:solidFill>
                  <a:srgbClr val="000000"/>
                </a:solidFill>
                <a:effectLst/>
              </a:rPr>
              <a:t>No </a:t>
            </a:r>
            <a:r>
              <a:rPr lang="en-US" sz="1700" b="0" i="0" dirty="0" err="1">
                <a:solidFill>
                  <a:srgbClr val="000000"/>
                </a:solidFill>
                <a:effectLst/>
              </a:rPr>
              <a:t>mtDNA</a:t>
            </a:r>
            <a:r>
              <a:rPr lang="en-US" sz="1700" dirty="0">
                <a:solidFill>
                  <a:srgbClr val="000000"/>
                </a:solidFill>
              </a:rPr>
              <a:t>-based method</a:t>
            </a:r>
          </a:p>
          <a:p>
            <a:pPr lvl="1"/>
            <a:r>
              <a:rPr lang="en-US" sz="1700" dirty="0"/>
              <a:t>No predictive value: Many reports: donor contributor is at or below the noise threshold (1%)</a:t>
            </a:r>
          </a:p>
          <a:p>
            <a:pPr lvl="1"/>
            <a:endParaRPr lang="en-US" sz="2000" b="0" i="0" dirty="0">
              <a:solidFill>
                <a:srgbClr val="000000"/>
              </a:solidFill>
              <a:effectLst/>
            </a:endParaRPr>
          </a:p>
          <a:p>
            <a:endParaRPr lang="en-US" sz="1800" b="0" i="0" dirty="0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3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A423-7C88-9751-D18C-73F26263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Deconvolution of donor-derived </a:t>
            </a:r>
            <a:r>
              <a:rPr lang="en-US" dirty="0" err="1"/>
              <a:t>mtDNA</a:t>
            </a:r>
            <a:r>
              <a:rPr lang="en-US" dirty="0"/>
              <a:t> in DNA mixture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DD0F-AA15-9970-D863-6FD54F675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Sources of noise</a:t>
            </a:r>
          </a:p>
          <a:p>
            <a:pPr lvl="1"/>
            <a:r>
              <a:rPr lang="en-US" dirty="0"/>
              <a:t>Sequence reads</a:t>
            </a:r>
          </a:p>
          <a:p>
            <a:pPr lvl="1"/>
            <a:r>
              <a:rPr lang="en-US" dirty="0"/>
              <a:t>Allele </a:t>
            </a:r>
            <a:r>
              <a:rPr lang="en-US" dirty="0" err="1"/>
              <a:t>heteroplasmy</a:t>
            </a:r>
            <a:r>
              <a:rPr lang="en-US" dirty="0"/>
              <a:t> (Individual level)</a:t>
            </a:r>
          </a:p>
          <a:p>
            <a:pPr lvl="1"/>
            <a:r>
              <a:rPr lang="en-US" dirty="0"/>
              <a:t>NUMPs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45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4809-4EE2-6816-073A-4A631251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donor-derived variant as somatic variant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FB130-6D5F-34A1-8019-44A445E1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FastQ</a:t>
            </a:r>
            <a:r>
              <a:rPr lang="en-US" dirty="0"/>
              <a:t> of recipient</a:t>
            </a:r>
          </a:p>
          <a:p>
            <a:r>
              <a:rPr lang="en-US" dirty="0" err="1"/>
              <a:t>FastQ</a:t>
            </a:r>
            <a:r>
              <a:rPr lang="en-US" dirty="0"/>
              <a:t> of mixture</a:t>
            </a:r>
          </a:p>
          <a:p>
            <a:pPr lvl="1"/>
            <a:r>
              <a:rPr lang="en-US" dirty="0"/>
              <a:t>Somatic pipeline </a:t>
            </a:r>
          </a:p>
          <a:p>
            <a:pPr lvl="2"/>
            <a:r>
              <a:rPr lang="en-US" dirty="0"/>
              <a:t>SNV, </a:t>
            </a:r>
            <a:r>
              <a:rPr lang="en-US" strike="sngStrike" dirty="0"/>
              <a:t>INS, DEL</a:t>
            </a:r>
          </a:p>
          <a:p>
            <a:pPr lvl="2"/>
            <a:r>
              <a:rPr lang="en-US" dirty="0"/>
              <a:t>VAF</a:t>
            </a:r>
          </a:p>
          <a:p>
            <a:r>
              <a:rPr lang="en-US" dirty="0"/>
              <a:t>Variant posterization:</a:t>
            </a:r>
          </a:p>
          <a:p>
            <a:r>
              <a:rPr lang="en-US" dirty="0"/>
              <a:t>Alleles with high population level frequency (20% - 80%)</a:t>
            </a:r>
          </a:p>
          <a:p>
            <a:r>
              <a:rPr lang="en-US" dirty="0"/>
              <a:t>Alleles with low </a:t>
            </a:r>
            <a:r>
              <a:rPr lang="en-US" dirty="0" err="1"/>
              <a:t>heteroplasmy</a:t>
            </a:r>
            <a:r>
              <a:rPr lang="en-US" dirty="0"/>
              <a:t> level (population level-</a:t>
            </a:r>
            <a:r>
              <a:rPr lang="en-US" dirty="0" err="1"/>
              <a:t>gnomAD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98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CA91-FD61-2822-0EDF-F53AFABD7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266"/>
          </a:xfrm>
        </p:spPr>
        <p:txBody>
          <a:bodyPr/>
          <a:lstStyle/>
          <a:p>
            <a:r>
              <a:rPr lang="en-US" dirty="0"/>
              <a:t>Bayesian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D755-7A17-E1A4-1EFF-56F66F444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Lets say we observe 10% VAF in an allele with population frequency of 1%</a:t>
            </a:r>
          </a:p>
          <a:p>
            <a:r>
              <a:rPr lang="en-US" dirty="0"/>
              <a:t>Bayesian method: start with prior estimate and update your estimate following each observation</a:t>
            </a:r>
          </a:p>
          <a:p>
            <a:r>
              <a:rPr lang="en-US" dirty="0"/>
              <a:t>likelihood ratio: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Pr</a:t>
            </a:r>
            <a:r>
              <a:rPr lang="en-US" dirty="0"/>
              <a:t>(E = H, I) is the probability of the evidence (E) given  each of two competing  hypotheses:  </a:t>
            </a:r>
          </a:p>
          <a:p>
            <a:r>
              <a:rPr lang="en-US" dirty="0"/>
              <a:t>H1: the sample  contains the DNA of the donor) and </a:t>
            </a:r>
          </a:p>
          <a:p>
            <a:r>
              <a:rPr lang="en-US" dirty="0"/>
              <a:t>H2 : the sample contains the DNA of a  random person), given the available information I (e.g., </a:t>
            </a:r>
            <a:r>
              <a:rPr lang="en-US" dirty="0" err="1"/>
              <a:t>vaf</a:t>
            </a:r>
            <a:r>
              <a:rPr lang="en-US" dirty="0"/>
              <a:t>&gt;10% in allele with low expected </a:t>
            </a:r>
            <a:r>
              <a:rPr lang="en-US" dirty="0" err="1"/>
              <a:t>vaf</a:t>
            </a:r>
            <a:r>
              <a:rPr lang="en-US" dirty="0"/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estimate = LR x prior estimate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6BADA-9351-4C96-2E51-9F9519694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331" y="2883694"/>
            <a:ext cx="3111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0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25C9-054A-8EDA-B02E-8A6E59A32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involved in calculation of each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BBE1-DDE9-D95E-27ED-AFFF9042F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Population level </a:t>
            </a:r>
            <a:r>
              <a:rPr lang="en-US" dirty="0" err="1"/>
              <a:t>vaf</a:t>
            </a:r>
            <a:endParaRPr lang="en-US" dirty="0"/>
          </a:p>
          <a:p>
            <a:r>
              <a:rPr lang="en-US" dirty="0"/>
              <a:t>Sequencing accuracy (sensitivity and specificity)</a:t>
            </a:r>
          </a:p>
          <a:p>
            <a:r>
              <a:rPr lang="en-US" dirty="0"/>
              <a:t>Observed </a:t>
            </a:r>
            <a:r>
              <a:rPr lang="en-US" dirty="0" err="1"/>
              <a:t>vaf</a:t>
            </a:r>
            <a:endParaRPr lang="en-US" dirty="0"/>
          </a:p>
          <a:p>
            <a:r>
              <a:rPr lang="en-US" dirty="0"/>
              <a:t>Coverage</a:t>
            </a:r>
          </a:p>
          <a:p>
            <a:r>
              <a:rPr lang="en-US" dirty="0"/>
              <a:t>If we observe 1% VAF in allele with 0.001% expected VAF that is more likely due to a sequencing error</a:t>
            </a:r>
          </a:p>
          <a:p>
            <a:r>
              <a:rPr lang="en-US" dirty="0"/>
              <a:t>If we observe 20% VAF in allele with 0.001% expected VAF that is un-likely due to a sequencing error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DD8B1-5E4D-5CE4-2801-75E56D83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50" y="1027906"/>
            <a:ext cx="31115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9E61-2688-BB39-F443-54669657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Deconvolution of donor-derive </a:t>
            </a:r>
            <a:r>
              <a:rPr lang="en-US" dirty="0" err="1"/>
              <a:t>mtDNA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B5B6-77FF-F5DB-CF3D-63B105EB5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 and prioritize (weight) variants based on the </a:t>
            </a:r>
            <a:r>
              <a:rPr lang="en-US" dirty="0" err="1"/>
              <a:t>probabilty</a:t>
            </a:r>
            <a:endParaRPr lang="en-US" dirty="0"/>
          </a:p>
          <a:p>
            <a:r>
              <a:rPr lang="en-US" dirty="0"/>
              <a:t>Distribution of weighted variant’s VAFs across mt genome (remove 100% and 0%)</a:t>
            </a:r>
          </a:p>
          <a:p>
            <a:r>
              <a:rPr lang="en-US" dirty="0"/>
              <a:t>Best case scenario: two peaks: 95% and 5%</a:t>
            </a:r>
          </a:p>
        </p:txBody>
      </p:sp>
    </p:spTree>
    <p:extLst>
      <p:ext uri="{BB962C8B-B14F-4D97-AF65-F5344CB8AC3E}">
        <p14:creationId xmlns:p14="http://schemas.microsoft.com/office/powerpoint/2010/main" val="265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D4DBC-D0BF-9931-B4D0-B2463391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improve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CA60-0C56-02F2-8D98-C7370568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E2E2E"/>
                </a:solidFill>
                <a:effectLst/>
                <a:latin typeface="NexusSerif"/>
              </a:rPr>
              <a:t>performance of a test is related to :</a:t>
            </a:r>
          </a:p>
          <a:p>
            <a:r>
              <a:rPr lang="en-US" b="0" i="0" dirty="0">
                <a:solidFill>
                  <a:srgbClr val="2E2E2E"/>
                </a:solidFill>
                <a:effectLst/>
                <a:latin typeface="NexusSerif"/>
              </a:rPr>
              <a:t>number of SNPs x average coverage of each SNP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113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9C58D-A6B9-5BEC-726A-7143A90D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2:Phasing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BA64-E74A-E462-2D6E-22AF8EA27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Identify alleles that occur together on the same chromosome </a:t>
            </a:r>
          </a:p>
          <a:p>
            <a:r>
              <a:rPr lang="en-US" dirty="0"/>
              <a:t>Application: diploids</a:t>
            </a:r>
          </a:p>
          <a:p>
            <a:r>
              <a:rPr lang="en-US" dirty="0"/>
              <a:t>In the context </a:t>
            </a:r>
            <a:r>
              <a:rPr lang="en-US" dirty="0" err="1"/>
              <a:t>mtDNA</a:t>
            </a:r>
            <a:r>
              <a:rPr lang="en-US" dirty="0"/>
              <a:t>, donor and recipient can be considered as a parent and their combined DNA as the genotype. </a:t>
            </a:r>
          </a:p>
          <a:p>
            <a:r>
              <a:rPr lang="en-US" dirty="0"/>
              <a:t>Many available tools</a:t>
            </a:r>
          </a:p>
          <a:p>
            <a:r>
              <a:rPr lang="en-US" dirty="0"/>
              <a:t>methods are designed for (single-source) diploid data, and not suitable for </a:t>
            </a:r>
            <a:r>
              <a:rPr lang="en-US" dirty="0" err="1"/>
              <a:t>mtDNA</a:t>
            </a:r>
            <a:r>
              <a:rPr lang="en-US" dirty="0"/>
              <a:t> mixture deconvolution. </a:t>
            </a:r>
          </a:p>
          <a:p>
            <a:r>
              <a:rPr lang="en-US" dirty="0"/>
              <a:t>unlike diploid DNA, in haploid mixtures genetic material of each contributor can be present in varying proportions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89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ED9CA7-E3C6-4536-590F-6B31424F70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66"/>
          <a:stretch/>
        </p:blipFill>
        <p:spPr bwMode="auto">
          <a:xfrm>
            <a:off x="525162" y="198436"/>
            <a:ext cx="2137719" cy="646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10365B4-ADC9-26A2-C451-08F1B5C52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6" r="57161" b="55057"/>
          <a:stretch/>
        </p:blipFill>
        <p:spPr bwMode="auto">
          <a:xfrm>
            <a:off x="3081829" y="741405"/>
            <a:ext cx="5407263" cy="500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A63FF4-66A8-FF19-875E-2FDB84D994CA}"/>
              </a:ext>
            </a:extLst>
          </p:cNvPr>
          <p:cNvSpPr/>
          <p:nvPr/>
        </p:nvSpPr>
        <p:spPr>
          <a:xfrm>
            <a:off x="1999736" y="4263081"/>
            <a:ext cx="1000897" cy="1112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D156C6-C714-A422-EE3A-F57EF366B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05" t="10605" r="14161" b="16721"/>
          <a:stretch/>
        </p:blipFill>
        <p:spPr bwMode="auto">
          <a:xfrm>
            <a:off x="8826844" y="529328"/>
            <a:ext cx="2640227" cy="579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9DF186-06A0-4F2F-0102-3BE48625CB5E}"/>
              </a:ext>
            </a:extLst>
          </p:cNvPr>
          <p:cNvSpPr txBox="1"/>
          <p:nvPr/>
        </p:nvSpPr>
        <p:spPr>
          <a:xfrm>
            <a:off x="3596037" y="159996"/>
            <a:ext cx="4297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 (MIXTURE OF REAL GENOMES)</a:t>
            </a:r>
          </a:p>
        </p:txBody>
      </p:sp>
    </p:spTree>
    <p:extLst>
      <p:ext uri="{BB962C8B-B14F-4D97-AF65-F5344CB8AC3E}">
        <p14:creationId xmlns:p14="http://schemas.microsoft.com/office/powerpoint/2010/main" val="2453319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31FC-0EA5-0648-04CE-0407FECD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3:Haplogroup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B1EA-13E6-FA00-294D-2B5731EB8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from well-annotated phylogeny of human mt Genomes </a:t>
            </a:r>
          </a:p>
          <a:p>
            <a:r>
              <a:rPr lang="en-US" dirty="0"/>
              <a:t>approximate the haplogroups of donors in a mixture. </a:t>
            </a:r>
          </a:p>
          <a:p>
            <a:r>
              <a:rPr lang="en-US" dirty="0"/>
              <a:t>searches each bam file for variants described in the public database</a:t>
            </a:r>
          </a:p>
          <a:p>
            <a:r>
              <a:rPr lang="en-US" dirty="0"/>
              <a:t>calculates the probability of the read originating from each haplogroup </a:t>
            </a:r>
          </a:p>
          <a:p>
            <a:r>
              <a:rPr lang="en-US" dirty="0"/>
              <a:t>Statistics: maximum likelihood function</a:t>
            </a:r>
          </a:p>
          <a:p>
            <a:r>
              <a:rPr lang="en-US" dirty="0"/>
              <a:t>Result: allocate the most likely haplogroup(s). </a:t>
            </a:r>
          </a:p>
          <a:p>
            <a:r>
              <a:rPr lang="en-US" dirty="0"/>
              <a:t>Weakness: </a:t>
            </a:r>
          </a:p>
          <a:p>
            <a:pPr lvl="1"/>
            <a:r>
              <a:rPr lang="en-US" dirty="0"/>
              <a:t>if samples belong to considerably similar haplogroups</a:t>
            </a:r>
          </a:p>
          <a:p>
            <a:pPr lvl="1"/>
            <a:r>
              <a:rPr lang="en-US" dirty="0"/>
              <a:t>comprise short DNA fragments.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0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538</Words>
  <Application>Microsoft Macintosh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NexusSerif</vt:lpstr>
      <vt:lpstr>Times New Roman</vt:lpstr>
      <vt:lpstr>Office Theme</vt:lpstr>
      <vt:lpstr>PowerPoint Presentation</vt:lpstr>
      <vt:lpstr>Deconvolution of dna mixture in literature</vt:lpstr>
      <vt:lpstr>Deconvolution of donor-derived mtDNA in DNA mixture </vt:lpstr>
      <vt:lpstr>Method 1: donor-derived variant as somatic variant</vt:lpstr>
      <vt:lpstr>Bayesian method</vt:lpstr>
      <vt:lpstr>Factors involved in calculation of each probability</vt:lpstr>
      <vt:lpstr>Deconvolution of donor-derive mtDNA:</vt:lpstr>
      <vt:lpstr>How to improve accuracy</vt:lpstr>
      <vt:lpstr>2:Phasing</vt:lpstr>
      <vt:lpstr>PowerPoint Presentation</vt:lpstr>
      <vt:lpstr>3:Haplogroup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Hakimjavadi, Hesamedin</dc:creator>
  <cp:lastModifiedBy>Hakimjavadi, Hesamedin</cp:lastModifiedBy>
  <cp:revision>1</cp:revision>
  <dcterms:created xsi:type="dcterms:W3CDTF">2022-09-27T20:51:17Z</dcterms:created>
  <dcterms:modified xsi:type="dcterms:W3CDTF">2022-09-28T02:42:52Z</dcterms:modified>
</cp:coreProperties>
</file>